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1269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923B"/>
          </a:solidFill>
          <a:ln/>
        </p:spPr>
      </p:sp>
      <p:sp>
        <p:nvSpPr>
          <p:cNvPr id="4" name="Shape 2"/>
          <p:cNvSpPr/>
          <p:nvPr/>
        </p:nvSpPr>
        <p:spPr>
          <a:xfrm>
            <a:off x="-731520" y="3200400"/>
            <a:ext cx="2926080" cy="2926080"/>
          </a:xfrm>
          <a:prstGeom prst="ellipse">
            <a:avLst/>
          </a:prstGeom>
          <a:solidFill>
            <a:srgbClr val="1B9AAA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-1005840"/>
            <a:ext cx="2194560" cy="2194560"/>
          </a:xfrm>
          <a:prstGeom prst="ellipse">
            <a:avLst/>
          </a:prstGeom>
          <a:solidFill>
            <a:srgbClr val="E8923B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41732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E8923B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1746504"/>
            <a:ext cx="713232" cy="7132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720" y="9144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9A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系統開發專題 ｜ Kaggle 數據分析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474720" y="128016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智慧旅宿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「滯銷風險」預警平台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3474720" y="2971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3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結構化屬性 × 評論情緒　多模態特徵融合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493008" y="3520440"/>
            <a:ext cx="4206240" cy="0"/>
          </a:xfrm>
          <a:prstGeom prst="line">
            <a:avLst/>
          </a:prstGeom>
          <a:noFill/>
          <a:ln w="25400">
            <a:solidFill>
              <a:srgbClr val="E892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74720" y="37033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7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提報日期　2026 / 06 / 30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7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　Inside Airbnb（公開資料集）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2697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2697E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36576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目錄　Contents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智慧旅宿滯銷風險預警平台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48326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38862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234440"/>
            <a:ext cx="82296" cy="914400"/>
          </a:xfrm>
          <a:prstGeom prst="rect">
            <a:avLst/>
          </a:prstGeom>
          <a:solidFill>
            <a:srgbClr val="12697E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" y="1435608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2697E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007" y="1558503"/>
            <a:ext cx="266273" cy="26627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840480" y="12893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DE4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1554480" y="13807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專案背景與動機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554480" y="1737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蚊子房痛點與 AI 切入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800600" y="1234440"/>
            <a:ext cx="38862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00600" y="1234440"/>
            <a:ext cx="82296" cy="91440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17" name="Shape 14"/>
          <p:cNvSpPr/>
          <p:nvPr/>
        </p:nvSpPr>
        <p:spPr>
          <a:xfrm>
            <a:off x="5056632" y="1435608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B9AAA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527" y="1558503"/>
            <a:ext cx="266273" cy="26627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001000" y="12893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DE4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5715000" y="13807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核心功能</a:t>
            </a:r>
            <a:endParaRPr lang="en-US" sz="1550" dirty="0"/>
          </a:p>
        </p:txBody>
      </p:sp>
      <p:sp>
        <p:nvSpPr>
          <p:cNvPr id="21" name="Text 17"/>
          <p:cNvSpPr/>
          <p:nvPr/>
        </p:nvSpPr>
        <p:spPr>
          <a:xfrm>
            <a:off x="5715000" y="1737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六大功能，皆含 AI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40080" y="2313432"/>
            <a:ext cx="38862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40080" y="2313432"/>
            <a:ext cx="82296" cy="914400"/>
          </a:xfrm>
          <a:prstGeom prst="rect">
            <a:avLst/>
          </a:prstGeom>
          <a:solidFill>
            <a:srgbClr val="E8923B"/>
          </a:solidFill>
          <a:ln/>
        </p:spPr>
      </p:sp>
      <p:sp>
        <p:nvSpPr>
          <p:cNvPr id="24" name="Shape 20"/>
          <p:cNvSpPr/>
          <p:nvPr/>
        </p:nvSpPr>
        <p:spPr>
          <a:xfrm>
            <a:off x="896112" y="2514600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E8923B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007" y="2637495"/>
            <a:ext cx="266273" cy="266273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840480" y="23682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DE4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600" dirty="0"/>
          </a:p>
        </p:txBody>
      </p:sp>
      <p:sp>
        <p:nvSpPr>
          <p:cNvPr id="27" name="Text 22"/>
          <p:cNvSpPr/>
          <p:nvPr/>
        </p:nvSpPr>
        <p:spPr>
          <a:xfrm>
            <a:off x="1554480" y="24597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實現方法</a:t>
            </a:r>
            <a:endParaRPr lang="en-US" sz="1550" dirty="0"/>
          </a:p>
        </p:txBody>
      </p:sp>
      <p:sp>
        <p:nvSpPr>
          <p:cNvPr id="28" name="Text 23"/>
          <p:cNvSpPr/>
          <p:nvPr/>
        </p:nvSpPr>
        <p:spPr>
          <a:xfrm>
            <a:off x="1554480" y="28163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模型、X／Y、Loss、訓練流程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4800600" y="2313432"/>
            <a:ext cx="38862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800600" y="2313432"/>
            <a:ext cx="82296" cy="914400"/>
          </a:xfrm>
          <a:prstGeom prst="rect">
            <a:avLst/>
          </a:prstGeom>
          <a:solidFill>
            <a:srgbClr val="12697E"/>
          </a:solidFill>
          <a:ln/>
        </p:spPr>
      </p:sp>
      <p:sp>
        <p:nvSpPr>
          <p:cNvPr id="31" name="Shape 26"/>
          <p:cNvSpPr/>
          <p:nvPr/>
        </p:nvSpPr>
        <p:spPr>
          <a:xfrm>
            <a:off x="5056632" y="2514600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2697E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9527" y="2637495"/>
            <a:ext cx="266273" cy="266273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8001000" y="23682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DE4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2600" dirty="0"/>
          </a:p>
        </p:txBody>
      </p:sp>
      <p:sp>
        <p:nvSpPr>
          <p:cNvPr id="34" name="Text 28"/>
          <p:cNvSpPr/>
          <p:nvPr/>
        </p:nvSpPr>
        <p:spPr>
          <a:xfrm>
            <a:off x="5715000" y="24597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資料與專案架構</a:t>
            </a:r>
            <a:endParaRPr lang="en-US" sz="1550" dirty="0"/>
          </a:p>
        </p:txBody>
      </p:sp>
      <p:sp>
        <p:nvSpPr>
          <p:cNvPr id="35" name="Text 29"/>
          <p:cNvSpPr/>
          <p:nvPr/>
        </p:nvSpPr>
        <p:spPr>
          <a:xfrm>
            <a:off x="5715000" y="28163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Inside Airbnb × 多模態融合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640080" y="3392424"/>
            <a:ext cx="38862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640080" y="3392424"/>
            <a:ext cx="82296" cy="91440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38" name="Shape 32"/>
          <p:cNvSpPr/>
          <p:nvPr/>
        </p:nvSpPr>
        <p:spPr>
          <a:xfrm>
            <a:off x="896112" y="3593592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B9AAA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007" y="3716487"/>
            <a:ext cx="266273" cy="266273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3840480" y="34472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DE4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2600" dirty="0"/>
          </a:p>
        </p:txBody>
      </p:sp>
      <p:sp>
        <p:nvSpPr>
          <p:cNvPr id="41" name="Text 34"/>
          <p:cNvSpPr/>
          <p:nvPr/>
        </p:nvSpPr>
        <p:spPr>
          <a:xfrm>
            <a:off x="1554480" y="3538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專案展望</a:t>
            </a:r>
            <a:endParaRPr lang="en-US" sz="1550" dirty="0"/>
          </a:p>
        </p:txBody>
      </p:sp>
      <p:sp>
        <p:nvSpPr>
          <p:cNvPr id="42" name="Text 35"/>
          <p:cNvSpPr/>
          <p:nvPr/>
        </p:nvSpPr>
        <p:spPr>
          <a:xfrm>
            <a:off x="1554480" y="389534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智慧定價等延伸功能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4800600" y="3392424"/>
            <a:ext cx="38862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44" name="Shape 37"/>
          <p:cNvSpPr/>
          <p:nvPr/>
        </p:nvSpPr>
        <p:spPr>
          <a:xfrm>
            <a:off x="4800600" y="3392424"/>
            <a:ext cx="82296" cy="914400"/>
          </a:xfrm>
          <a:prstGeom prst="rect">
            <a:avLst/>
          </a:prstGeom>
          <a:solidFill>
            <a:srgbClr val="E8923B"/>
          </a:solidFill>
          <a:ln/>
        </p:spPr>
      </p:sp>
      <p:sp>
        <p:nvSpPr>
          <p:cNvPr id="45" name="Shape 38"/>
          <p:cNvSpPr/>
          <p:nvPr/>
        </p:nvSpPr>
        <p:spPr>
          <a:xfrm>
            <a:off x="5056632" y="3593592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E8923B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9527" y="3716487"/>
            <a:ext cx="266273" cy="266273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8001000" y="34472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DE4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2600" dirty="0"/>
          </a:p>
        </p:txBody>
      </p:sp>
      <p:sp>
        <p:nvSpPr>
          <p:cNvPr id="48" name="Text 40"/>
          <p:cNvSpPr/>
          <p:nvPr/>
        </p:nvSpPr>
        <p:spPr>
          <a:xfrm>
            <a:off x="5715000" y="3538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&amp; A</a:t>
            </a:r>
            <a:endParaRPr lang="en-US" sz="1550" dirty="0"/>
          </a:p>
        </p:txBody>
      </p:sp>
      <p:sp>
        <p:nvSpPr>
          <p:cNvPr id="49" name="Text 41"/>
          <p:cNvSpPr/>
          <p:nvPr/>
        </p:nvSpPr>
        <p:spPr>
          <a:xfrm>
            <a:off x="5715000" y="389534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綜合討論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923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8923B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36576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專案背景與動機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智慧旅宿滯銷風險預警平台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48326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269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「我不知道我的房間，為什麼租不出去。」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2120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9659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2697E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2086661"/>
            <a:ext cx="261518" cy="26151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71600" y="18928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線索藏在兩種資料裡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371600" y="21945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影響需求的因素，一半在『價格、地點、設施』等結構化屬性，一半在『住客評論』的文字情緒裡。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2752344"/>
            <a:ext cx="52120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31520" y="293522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8923B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21" y="3055925"/>
            <a:ext cx="261518" cy="26151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371600" y="28620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人工判斷慢又不一致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71600" y="3163824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房源一多，無法逐一比價、讀完每則評論，更難判斷哪一間正在掉下去。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48640" y="3721608"/>
            <a:ext cx="52120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3152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9534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4025189"/>
            <a:ext cx="261518" cy="26151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71600" y="383133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問題總是事後才發現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371600" y="413308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等發現整月沒人訂，旺季與搜尋排名都已錯過，補救成本最高。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989320" y="109728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0E2A35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989320" y="1097280"/>
            <a:ext cx="2697480" cy="91440"/>
          </a:xfrm>
          <a:prstGeom prst="rect">
            <a:avLst/>
          </a:prstGeom>
          <a:solidFill>
            <a:srgbClr val="E8923B"/>
          </a:solidFill>
          <a:ln/>
        </p:spPr>
      </p:sp>
      <p:sp>
        <p:nvSpPr>
          <p:cNvPr id="26" name="Shape 21"/>
          <p:cNvSpPr/>
          <p:nvPr/>
        </p:nvSpPr>
        <p:spPr>
          <a:xfrm>
            <a:off x="7086600" y="137160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E8923B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0219" y="1525219"/>
            <a:ext cx="332842" cy="33284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172200" y="2148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本專題的解方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6217920" y="256032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3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一套 AI 滯銷風險預警平台：自動結合『房源屬性 ＋ 評論情緒』，在房源變蚊子房之前算出風險、解釋原因、給出優化建議。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B9AAA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36576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核心功能　（六項皆含 AI）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智慧旅宿滯銷風險預警平台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48326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251460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234440"/>
            <a:ext cx="2514600" cy="82296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" y="149047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D9534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871" y="1626535"/>
            <a:ext cx="294803" cy="29480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44752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滯銷風險評分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9808" y="21671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 0~1 滯銷機率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91840" y="1234440"/>
            <a:ext cx="251460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91840" y="1234440"/>
            <a:ext cx="2514600" cy="82296"/>
          </a:xfrm>
          <a:prstGeom prst="rect">
            <a:avLst/>
          </a:prstGeom>
          <a:solidFill>
            <a:srgbClr val="12697E"/>
          </a:solidFill>
          <a:ln/>
        </p:spPr>
      </p:sp>
      <p:sp>
        <p:nvSpPr>
          <p:cNvPr id="16" name="Shape 13"/>
          <p:cNvSpPr/>
          <p:nvPr/>
        </p:nvSpPr>
        <p:spPr>
          <a:xfrm>
            <a:off x="3493008" y="149047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2697E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071" y="1626535"/>
            <a:ext cx="294803" cy="29480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187952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高風險預警名單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3493008" y="21671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風險排序儀表板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035040" y="1234440"/>
            <a:ext cx="251460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35040" y="1234440"/>
            <a:ext cx="2514600" cy="8229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22" name="Shape 18"/>
          <p:cNvSpPr/>
          <p:nvPr/>
        </p:nvSpPr>
        <p:spPr>
          <a:xfrm>
            <a:off x="6236208" y="149047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B9AAA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71" y="1626535"/>
            <a:ext cx="294803" cy="29480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931152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風險原因解釋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6236208" y="21671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SHAP 可解釋 AI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548640" y="2862072"/>
            <a:ext cx="251460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48640" y="2862072"/>
            <a:ext cx="2514600" cy="82296"/>
          </a:xfrm>
          <a:prstGeom prst="rect">
            <a:avLst/>
          </a:prstGeom>
          <a:solidFill>
            <a:srgbClr val="12697E"/>
          </a:solidFill>
          <a:ln/>
        </p:spPr>
      </p:sp>
      <p:sp>
        <p:nvSpPr>
          <p:cNvPr id="28" name="Shape 23"/>
          <p:cNvSpPr/>
          <p:nvPr/>
        </p:nvSpPr>
        <p:spPr>
          <a:xfrm>
            <a:off x="749808" y="3118104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2697E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71" y="3254167"/>
            <a:ext cx="294803" cy="294803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444752" y="31363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評論情緒洞察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749808" y="3794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NLP 情緒／面向分析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3291840" y="2862072"/>
            <a:ext cx="251460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3291840" y="2862072"/>
            <a:ext cx="2514600" cy="82296"/>
          </a:xfrm>
          <a:prstGeom prst="rect">
            <a:avLst/>
          </a:prstGeom>
          <a:solidFill>
            <a:srgbClr val="E8923B"/>
          </a:solidFill>
          <a:ln/>
        </p:spPr>
      </p:sp>
      <p:sp>
        <p:nvSpPr>
          <p:cNvPr id="34" name="Shape 28"/>
          <p:cNvSpPr/>
          <p:nvPr/>
        </p:nvSpPr>
        <p:spPr>
          <a:xfrm>
            <a:off x="3493008" y="3118104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8923B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9071" y="3254167"/>
            <a:ext cx="294803" cy="294803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187952" y="31363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房源優化建議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3493008" y="3794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依原因給行動建議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6035040" y="2862072"/>
            <a:ext cx="251460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6035040" y="2862072"/>
            <a:ext cx="2514600" cy="8229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0" name="Shape 33"/>
          <p:cNvSpPr/>
          <p:nvPr/>
        </p:nvSpPr>
        <p:spPr>
          <a:xfrm>
            <a:off x="6236208" y="3118104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B9AAA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2271" y="3254167"/>
            <a:ext cx="294803" cy="294803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931152" y="31363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智慧定價（延伸）</a:t>
            </a:r>
            <a:endParaRPr lang="en-US" sz="1350" dirty="0"/>
          </a:p>
        </p:txBody>
      </p:sp>
      <p:sp>
        <p:nvSpPr>
          <p:cNvPr id="43" name="Text 35"/>
          <p:cNvSpPr/>
          <p:nvPr/>
        </p:nvSpPr>
        <p:spPr>
          <a:xfrm>
            <a:off x="6236208" y="3794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回歸推估市場合理價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2697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2697E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36576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領域與模型混搭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智慧旅宿滯銷風險預警平台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48326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7899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領域：</a:t>
            </a:r>
            <a:pPr indent="0" marL="0">
              <a:buNone/>
            </a:pPr>
            <a:r>
              <a:rPr lang="en-US" sz="1350" b="1" dirty="0">
                <a:solidFill>
                  <a:srgbClr val="1269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監督式學習（二元分類） ＋ NLP（情緒分析／文字嵌入） → 多模態特徵融合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1572768"/>
            <a:ext cx="813816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572768"/>
            <a:ext cx="82296" cy="493776"/>
          </a:xfrm>
          <a:prstGeom prst="rect">
            <a:avLst/>
          </a:prstGeom>
          <a:solidFill>
            <a:srgbClr val="5A6B7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572768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Baseline 基準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97480" y="1572768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Logistic Regression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0" y="1572768"/>
            <a:ext cx="3063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證明複雜模型確實有價值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139696"/>
            <a:ext cx="813816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139696"/>
            <a:ext cx="82296" cy="493776"/>
          </a:xfrm>
          <a:prstGeom prst="rect">
            <a:avLst/>
          </a:prstGeom>
          <a:solidFill>
            <a:srgbClr val="12697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13969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69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主力 · 樹模型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97480" y="2139696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XGBoost / LightGBM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0" y="2139696"/>
            <a:ext cx="3063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表格資料王者，準確且可解釋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2706624"/>
            <a:ext cx="813816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2706624"/>
            <a:ext cx="82296" cy="49377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2706624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A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NLP 子模型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97480" y="270662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情緒模型 + Sentence-BERT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0" y="2706624"/>
            <a:ext cx="3063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評論 → 情緒分數＋語意向量（遷移學習）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273552"/>
            <a:ext cx="813816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3273552"/>
            <a:ext cx="82296" cy="493776"/>
          </a:xfrm>
          <a:prstGeom prst="rect">
            <a:avLst/>
          </a:prstGeom>
          <a:solidFill>
            <a:srgbClr val="E8923B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327355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2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深度學習融合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97480" y="3273552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多模態 MLP / TabNet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0" y="3273552"/>
            <a:ext cx="3063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結構化 ⊕ 文字嵌入，真正特徵融合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3840480"/>
            <a:ext cx="813816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3840480"/>
            <a:ext cx="82296" cy="493776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384048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混搭 Ensemble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97480" y="384048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Stacking / Soft-Voting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0" y="3840480"/>
            <a:ext cx="3063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整合各模型追求最佳效能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4443984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892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✦ 加分點：純表格上樹模型常勝過 DNN；但加入評論嵌入後，融合網路有機會反超 — 正好展現模型選擇的判斷力。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923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8923B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36576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模型輸入 X、輸出 Y 與 Loss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智慧旅宿滯銷風險預警平台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48326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97280"/>
            <a:ext cx="507492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097280"/>
            <a:ext cx="5074920" cy="457200"/>
          </a:xfrm>
          <a:prstGeom prst="rect">
            <a:avLst/>
          </a:prstGeom>
          <a:solidFill>
            <a:srgbClr val="12697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097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 X ＝ 融合特徵向量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69164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1269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結構化特徵
</a:t>
            </a:r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價格、可住人數、房間／衛浴數、房型、行政區/經緯度、最少入住晚數、是否超讚房東、回覆率、設施數量
</a:t>
            </a:r>
            <a:pPr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E892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⊕  文字衍生特徵（NLP）
</a:t>
            </a:r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評論平均情緒、負評比例、清潔/地點/CP值面向情緒、評論語意嵌入向量（Sentence-BERT）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1097280"/>
            <a:ext cx="28346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52160" y="1097280"/>
            <a:ext cx="2834640" cy="45720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14" name="Text 12"/>
          <p:cNvSpPr/>
          <p:nvPr/>
        </p:nvSpPr>
        <p:spPr>
          <a:xfrm>
            <a:off x="6016752" y="1097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 Y ＝ 是否滯銷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35040" y="164592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953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1　滯銷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（每月評論數低 且 整年空房高）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269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0　正常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52160" y="2926080"/>
            <a:ext cx="2834640" cy="1417320"/>
          </a:xfrm>
          <a:prstGeom prst="roundRect">
            <a:avLst>
              <a:gd name="adj" fmla="val 4516"/>
            </a:avLst>
          </a:prstGeom>
          <a:solidFill>
            <a:srgbClr val="0E2A35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89320" y="30358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2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Loss：二元交叉熵 (BCE)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89320" y="3346704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-(1/N) Σ [ yᵢ·log(pᵢ)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(1-yᵢ)·log(1-pᵢ) ]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89320" y="39502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C0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評估重 Recall：寧可多抓，不可漏抓真正會滯銷的房源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B9AAA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36576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模型訓練流程圖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智慧旅宿滯銷風險預警平台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48326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325880"/>
            <a:ext cx="151790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325880"/>
            <a:ext cx="1517904" cy="73152"/>
          </a:xfrm>
          <a:prstGeom prst="rect">
            <a:avLst/>
          </a:prstGeom>
          <a:solidFill>
            <a:srgbClr val="12697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356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69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0120" y="147218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原始資料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18745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listings + reviews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listing_id 串接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2020824" y="1828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92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221992" y="1325880"/>
            <a:ext cx="151790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21992" y="1325880"/>
            <a:ext cx="1517904" cy="73152"/>
          </a:xfrm>
          <a:prstGeom prst="rect">
            <a:avLst/>
          </a:prstGeom>
          <a:solidFill>
            <a:srgbClr val="12697E"/>
          </a:solidFill>
          <a:ln/>
        </p:spPr>
      </p:sp>
      <p:sp>
        <p:nvSpPr>
          <p:cNvPr id="16" name="Text 14"/>
          <p:cNvSpPr/>
          <p:nvPr/>
        </p:nvSpPr>
        <p:spPr>
          <a:xfrm>
            <a:off x="2267712" y="14356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69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679192" y="147218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資料清理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313432" y="18745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價格轉數值、去極端值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評論去雜訊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3739896" y="1828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92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941064" y="1325880"/>
            <a:ext cx="151790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941064" y="1325880"/>
            <a:ext cx="1517904" cy="7315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2" name="Text 20"/>
          <p:cNvSpPr/>
          <p:nvPr/>
        </p:nvSpPr>
        <p:spPr>
          <a:xfrm>
            <a:off x="3986784" y="14356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53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398264" y="147218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定義標籤 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032504" y="18745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評論數低 且 空房高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★防洩漏：不放進 X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5458968" y="1828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92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660136" y="1325880"/>
            <a:ext cx="151790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660136" y="1325880"/>
            <a:ext cx="1517904" cy="73152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28" name="Text 26"/>
          <p:cNvSpPr/>
          <p:nvPr/>
        </p:nvSpPr>
        <p:spPr>
          <a:xfrm>
            <a:off x="5705856" y="14356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9A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117336" y="147218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結構化特徵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751576" y="18745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編碼 / 標準化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7178040" y="1828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92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379208" y="1325880"/>
            <a:ext cx="151790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79208" y="1325880"/>
            <a:ext cx="1517904" cy="73152"/>
          </a:xfrm>
          <a:prstGeom prst="rect">
            <a:avLst/>
          </a:prstGeom>
          <a:solidFill>
            <a:srgbClr val="E8923B"/>
          </a:solidFill>
          <a:ln/>
        </p:spPr>
      </p:sp>
      <p:sp>
        <p:nvSpPr>
          <p:cNvPr id="34" name="Text 32"/>
          <p:cNvSpPr/>
          <p:nvPr/>
        </p:nvSpPr>
        <p:spPr>
          <a:xfrm>
            <a:off x="7424928" y="14356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92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836408" y="147218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NLP 分支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470648" y="18745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情緒分數 + BERT 嵌入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聚合到 listing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502920" y="2926080"/>
            <a:ext cx="151790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02920" y="2926080"/>
            <a:ext cx="1517904" cy="73152"/>
          </a:xfrm>
          <a:prstGeom prst="rect">
            <a:avLst/>
          </a:prstGeom>
          <a:solidFill>
            <a:srgbClr val="E8923B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30358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92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⑥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960120" y="307238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特徵融合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94360" y="34747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結構化 ⊕ 文字 → X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2020824" y="3429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92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2221992" y="2926080"/>
            <a:ext cx="151790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221992" y="2926080"/>
            <a:ext cx="1517904" cy="73152"/>
          </a:xfrm>
          <a:prstGeom prst="rect">
            <a:avLst/>
          </a:prstGeom>
          <a:solidFill>
            <a:srgbClr val="12697E"/>
          </a:solidFill>
          <a:ln/>
        </p:spPr>
      </p:sp>
      <p:sp>
        <p:nvSpPr>
          <p:cNvPr id="45" name="Text 43"/>
          <p:cNvSpPr/>
          <p:nvPr/>
        </p:nvSpPr>
        <p:spPr>
          <a:xfrm>
            <a:off x="2267712" y="30358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69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⑦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2679192" y="307238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切分＋不平衡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2313432" y="34747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train/val/test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class weight / SMOTE</a:t>
            </a:r>
            <a:endParaRPr lang="en-US" sz="880" dirty="0"/>
          </a:p>
        </p:txBody>
      </p:sp>
      <p:sp>
        <p:nvSpPr>
          <p:cNvPr id="48" name="Text 46"/>
          <p:cNvSpPr/>
          <p:nvPr/>
        </p:nvSpPr>
        <p:spPr>
          <a:xfrm>
            <a:off x="3739896" y="3429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92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3941064" y="2926080"/>
            <a:ext cx="151790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941064" y="2926080"/>
            <a:ext cx="1517904" cy="73152"/>
          </a:xfrm>
          <a:prstGeom prst="rect">
            <a:avLst/>
          </a:prstGeom>
          <a:solidFill>
            <a:srgbClr val="12697E"/>
          </a:solidFill>
          <a:ln/>
        </p:spPr>
      </p:sp>
      <p:sp>
        <p:nvSpPr>
          <p:cNvPr id="51" name="Text 49"/>
          <p:cNvSpPr/>
          <p:nvPr/>
        </p:nvSpPr>
        <p:spPr>
          <a:xfrm>
            <a:off x="3986784" y="30358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69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⑧</a:t>
            </a:r>
            <a:endParaRPr lang="en-US" sz="1700" dirty="0"/>
          </a:p>
        </p:txBody>
      </p:sp>
      <p:sp>
        <p:nvSpPr>
          <p:cNvPr id="52" name="Text 50"/>
          <p:cNvSpPr/>
          <p:nvPr/>
        </p:nvSpPr>
        <p:spPr>
          <a:xfrm>
            <a:off x="4398264" y="307238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模型訓練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4032504" y="34747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LR/XGB/LGBM/MLP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Loss = BCE</a:t>
            </a:r>
            <a:endParaRPr lang="en-US" sz="880" dirty="0"/>
          </a:p>
        </p:txBody>
      </p:sp>
      <p:sp>
        <p:nvSpPr>
          <p:cNvPr id="54" name="Text 52"/>
          <p:cNvSpPr/>
          <p:nvPr/>
        </p:nvSpPr>
        <p:spPr>
          <a:xfrm>
            <a:off x="5458968" y="3429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92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5660136" y="2926080"/>
            <a:ext cx="151790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660136" y="2926080"/>
            <a:ext cx="1517904" cy="73152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57" name="Text 55"/>
          <p:cNvSpPr/>
          <p:nvPr/>
        </p:nvSpPr>
        <p:spPr>
          <a:xfrm>
            <a:off x="5705856" y="30358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9A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⑨</a:t>
            </a:r>
            <a:endParaRPr lang="en-US" sz="1700" dirty="0"/>
          </a:p>
        </p:txBody>
      </p:sp>
      <p:sp>
        <p:nvSpPr>
          <p:cNvPr id="58" name="Text 56"/>
          <p:cNvSpPr/>
          <p:nvPr/>
        </p:nvSpPr>
        <p:spPr>
          <a:xfrm>
            <a:off x="6117336" y="307238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評估＋解釋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5751576" y="34747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AUC/Recall/F1 + SHAP</a:t>
            </a:r>
            <a:endParaRPr lang="en-US" sz="880" dirty="0"/>
          </a:p>
        </p:txBody>
      </p:sp>
      <p:sp>
        <p:nvSpPr>
          <p:cNvPr id="60" name="Text 58"/>
          <p:cNvSpPr/>
          <p:nvPr/>
        </p:nvSpPr>
        <p:spPr>
          <a:xfrm>
            <a:off x="7178040" y="3429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92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7379208" y="2926080"/>
            <a:ext cx="151790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379208" y="2926080"/>
            <a:ext cx="1517904" cy="73152"/>
          </a:xfrm>
          <a:prstGeom prst="rect">
            <a:avLst/>
          </a:prstGeom>
          <a:solidFill>
            <a:srgbClr val="E8923B"/>
          </a:solidFill>
          <a:ln/>
        </p:spPr>
      </p:sp>
      <p:sp>
        <p:nvSpPr>
          <p:cNvPr id="63" name="Text 61"/>
          <p:cNvSpPr/>
          <p:nvPr/>
        </p:nvSpPr>
        <p:spPr>
          <a:xfrm>
            <a:off x="7424928" y="30358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92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⑩</a:t>
            </a:r>
            <a:endParaRPr lang="en-US" sz="1700" dirty="0"/>
          </a:p>
        </p:txBody>
      </p:sp>
      <p:sp>
        <p:nvSpPr>
          <p:cNvPr id="64" name="Text 62"/>
          <p:cNvSpPr/>
          <p:nvPr/>
        </p:nvSpPr>
        <p:spPr>
          <a:xfrm>
            <a:off x="7836408" y="307238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7470648" y="34747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風險評分 → Streamlit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預警儀表板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2697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2697E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36576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研究資料：Inside Airbnb（多模態）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智慧旅宿滯銷風險預警平台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48326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389888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2697E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415" y="1512783"/>
            <a:ext cx="266273" cy="26627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13075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資料素材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371600" y="160934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結構化數值/類別（CSV）＋ 評論文字。非聲音、非影像。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2212848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31520" y="2414016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B9AAA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15" y="2536911"/>
            <a:ext cx="266273" cy="26627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71600" y="2331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如何取得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1371600" y="26334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Inside Airbnb 公開免費下載，聚焦單一城市（如倫敦/巴黎）。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48640" y="3236976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31520" y="3438144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E8923B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15" y="3561039"/>
            <a:ext cx="266273" cy="26627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71600" y="33558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資料量級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1371600" y="36576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listings 約數萬筆房源（70+ 欄位）；reviews 約數十萬~百萬則評論。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715000" y="1188720"/>
            <a:ext cx="2971800" cy="3108960"/>
          </a:xfrm>
          <a:prstGeom prst="roundRect">
            <a:avLst>
              <a:gd name="adj" fmla="val 2462"/>
            </a:avLst>
          </a:prstGeom>
          <a:solidFill>
            <a:srgbClr val="0E2A35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715000" y="1188720"/>
            <a:ext cx="2971800" cy="91440"/>
          </a:xfrm>
          <a:prstGeom prst="rect">
            <a:avLst/>
          </a:prstGeom>
          <a:solidFill>
            <a:srgbClr val="E8923B"/>
          </a:solidFill>
          <a:ln/>
        </p:spPr>
      </p:sp>
      <p:sp>
        <p:nvSpPr>
          <p:cNvPr id="25" name="Text 20"/>
          <p:cNvSpPr/>
          <p:nvPr/>
        </p:nvSpPr>
        <p:spPr>
          <a:xfrm>
            <a:off x="5897880" y="1417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與 Y 的關係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5897880" y="1874520"/>
            <a:ext cx="2651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9A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　房源屬性 ＋ 歷史評論情緒
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3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 模型學習：什麼條件＋什麼口碑
　 會導致租不出去
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892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　該房源是否滯銷
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FFD9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防資料洩漏：定義 Y 用到的欄位（評論數、空房天數）一律不放進 X。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B9AAA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36576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專案架構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智慧旅宿滯銷風險預警平台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48326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155448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554480"/>
            <a:ext cx="2514600" cy="91440"/>
          </a:xfrm>
          <a:prstGeom prst="rect">
            <a:avLst/>
          </a:prstGeom>
          <a:solidFill>
            <a:srgbClr val="12697E"/>
          </a:solidFill>
          <a:ln/>
        </p:spPr>
      </p:sp>
      <p:sp>
        <p:nvSpPr>
          <p:cNvPr id="10" name="Shape 8"/>
          <p:cNvSpPr/>
          <p:nvPr/>
        </p:nvSpPr>
        <p:spPr>
          <a:xfrm>
            <a:off x="1463040" y="187452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12697E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9578" y="2061058"/>
            <a:ext cx="404165" cy="40416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27614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資料輸入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312724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listings 結構化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reviews 評論文字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063240" y="24231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53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163824" y="26060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69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502152" y="155448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502152" y="1554480"/>
            <a:ext cx="2514600" cy="91440"/>
          </a:xfrm>
          <a:prstGeom prst="rect">
            <a:avLst/>
          </a:prstGeom>
          <a:solidFill>
            <a:srgbClr val="E8923B"/>
          </a:solidFill>
          <a:ln/>
        </p:spPr>
      </p:sp>
      <p:sp>
        <p:nvSpPr>
          <p:cNvPr id="18" name="Shape 15"/>
          <p:cNvSpPr/>
          <p:nvPr/>
        </p:nvSpPr>
        <p:spPr>
          <a:xfrm>
            <a:off x="4370832" y="187452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E8923B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370" y="2061058"/>
            <a:ext cx="404165" cy="40416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593592" y="27614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模型（包裝串接）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3639312" y="312724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結構化 ⊕ 評論嵌入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分類模型（樹/DL）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SHAP 解釋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971032" y="24231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53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071616" y="26060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69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6409944" y="155448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409944" y="1554480"/>
            <a:ext cx="2514600" cy="9144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26" name="Shape 22"/>
          <p:cNvSpPr/>
          <p:nvPr/>
        </p:nvSpPr>
        <p:spPr>
          <a:xfrm>
            <a:off x="7278624" y="187452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1B9AAA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162" y="2061058"/>
            <a:ext cx="404165" cy="404165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501384" y="27614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部署輸出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6547104" y="312724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滯銷風險分數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預警名單 + 儀表板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優化/定價建議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594360" y="4160520"/>
            <a:ext cx="8092440" cy="548640"/>
          </a:xfrm>
          <a:prstGeom prst="roundRect">
            <a:avLst>
              <a:gd name="adj" fmla="val 8333"/>
            </a:avLst>
          </a:prstGeom>
          <a:solidFill>
            <a:srgbClr val="EAF1F0"/>
          </a:solidFill>
          <a:ln/>
        </p:spPr>
      </p:sp>
      <p:sp>
        <p:nvSpPr>
          <p:cNvPr id="31" name="Text 26"/>
          <p:cNvSpPr/>
          <p:nvPr/>
        </p:nvSpPr>
        <p:spPr>
          <a:xfrm>
            <a:off x="594360" y="4160520"/>
            <a:ext cx="8092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69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部署形式：Streamlit Web — 一站上傳房源資料，即時輸出滯銷風險、原因與建議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923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8923B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36576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專案展望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智慧旅宿滯銷風險預警平台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48326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1325880"/>
            <a:ext cx="2542032" cy="28346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325880"/>
            <a:ext cx="2542032" cy="91440"/>
          </a:xfrm>
          <a:prstGeom prst="rect">
            <a:avLst/>
          </a:prstGeom>
          <a:solidFill>
            <a:srgbClr val="12697E"/>
          </a:solidFill>
          <a:ln/>
        </p:spPr>
      </p:sp>
      <p:sp>
        <p:nvSpPr>
          <p:cNvPr id="10" name="Shape 8"/>
          <p:cNvSpPr/>
          <p:nvPr/>
        </p:nvSpPr>
        <p:spPr>
          <a:xfrm>
            <a:off x="1431036" y="164592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12697E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9519" y="1854403"/>
            <a:ext cx="451714" cy="45171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269748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智慧定價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77240" y="3154680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回歸模型回推市場合理價，直接建議『調到 X 元』。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337560" y="1325880"/>
            <a:ext cx="2542032" cy="28346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337560" y="1325880"/>
            <a:ext cx="2542032" cy="9144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16" name="Shape 13"/>
          <p:cNvSpPr/>
          <p:nvPr/>
        </p:nvSpPr>
        <p:spPr>
          <a:xfrm>
            <a:off x="4174236" y="164592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1B9AAA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2719" y="1854403"/>
            <a:ext cx="451714" cy="45171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29000" y="269748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面向情緒細化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3520440" y="3154680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清潔/地點/CP 值面向情緒做成雷達圖，精準指出改善點。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080760" y="1325880"/>
            <a:ext cx="2542032" cy="28346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80760" y="1325880"/>
            <a:ext cx="2542032" cy="91440"/>
          </a:xfrm>
          <a:prstGeom prst="rect">
            <a:avLst/>
          </a:prstGeom>
          <a:solidFill>
            <a:srgbClr val="E8923B"/>
          </a:solidFill>
          <a:ln/>
        </p:spPr>
      </p:sp>
      <p:sp>
        <p:nvSpPr>
          <p:cNvPr id="22" name="Shape 18"/>
          <p:cNvSpPr/>
          <p:nvPr/>
        </p:nvSpPr>
        <p:spPr>
          <a:xfrm>
            <a:off x="6917436" y="164592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E8923B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919" y="1854403"/>
            <a:ext cx="451714" cy="45171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172200" y="269748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多城市比較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263640" y="3154680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擴展到多城市，分析不同市場滯銷成因差異。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2697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2697E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36576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預期效益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智慧旅宿滯銷風險預警平台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48326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05840" y="1280160"/>
            <a:ext cx="71323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05840" y="1280160"/>
            <a:ext cx="82296" cy="914400"/>
          </a:xfrm>
          <a:prstGeom prst="rect">
            <a:avLst/>
          </a:prstGeom>
          <a:solidFill>
            <a:srgbClr val="E8923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4440" y="1481328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E8923B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7335" y="1604223"/>
            <a:ext cx="266273" cy="26627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920240" y="142646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事前預警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920240" y="17830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從『事後才發現蚊子房』轉為『提早優化、把握旺季』。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05840" y="2331720"/>
            <a:ext cx="71323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005840" y="2331720"/>
            <a:ext cx="82296" cy="914400"/>
          </a:xfrm>
          <a:prstGeom prst="rect">
            <a:avLst/>
          </a:prstGeom>
          <a:solidFill>
            <a:srgbClr val="12697E"/>
          </a:solidFill>
          <a:ln/>
        </p:spPr>
      </p:sp>
      <p:sp>
        <p:nvSpPr>
          <p:cNvPr id="16" name="Shape 13"/>
          <p:cNvSpPr/>
          <p:nvPr/>
        </p:nvSpPr>
        <p:spPr>
          <a:xfrm>
            <a:off x="1234440" y="2532888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2697E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35" y="2655783"/>
            <a:ext cx="266273" cy="26627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920240" y="247802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精準投放資源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1920240" y="28346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把調價、攝影、清潔改善等心力，集中在高風險房源。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1005840" y="3383280"/>
            <a:ext cx="71323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1005840" y="3383280"/>
            <a:ext cx="82296" cy="91440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22" name="Shape 18"/>
          <p:cNvSpPr/>
          <p:nvPr/>
        </p:nvSpPr>
        <p:spPr>
          <a:xfrm>
            <a:off x="1234440" y="3584448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B9AAA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335" y="3707343"/>
            <a:ext cx="266273" cy="26627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920240" y="352958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可解釋、可行動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920240" y="38862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原因可解釋、口碑可量化，房東知道『該對這間做什麼』。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188720"/>
            <a:ext cx="3840480" cy="3840480"/>
          </a:xfrm>
          <a:prstGeom prst="ellipse">
            <a:avLst/>
          </a:prstGeom>
          <a:solidFill>
            <a:srgbClr val="12697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2926080"/>
            <a:ext cx="3291840" cy="3291840"/>
          </a:xfrm>
          <a:prstGeom prst="ellipse">
            <a:avLst/>
          </a:prstGeom>
          <a:solidFill>
            <a:srgbClr val="E8923B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417320"/>
            <a:ext cx="1143000" cy="1143000"/>
          </a:xfrm>
          <a:prstGeom prst="roundRect">
            <a:avLst>
              <a:gd name="adj" fmla="val 6400"/>
            </a:avLst>
          </a:prstGeom>
          <a:solidFill>
            <a:srgbClr val="E8923B"/>
          </a:solidFill>
          <a:ln/>
          <a:effectLst>
            <a:outerShdw sx="100000" sy="100000" kx="0" ky="0" algn="bl" rotWithShape="0" blurRad="114300" dist="38100" dir="8100000">
              <a:srgbClr val="0E2A35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69164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7432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&amp; A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68680" y="3703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9A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Thank you for your attention.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0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智慧旅宿「滯銷風險」預警平台 ｜ 2026.06.30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智慧旅宿滯銷風險預警平台</dc:title>
  <dc:subject>PptxGenJS Presentation</dc:subject>
  <dc:creator>艾諦學院</dc:creator>
  <cp:lastModifiedBy>艾諦學院</cp:lastModifiedBy>
  <cp:revision>1</cp:revision>
  <dcterms:created xsi:type="dcterms:W3CDTF">2026-06-25T04:44:18Z</dcterms:created>
  <dcterms:modified xsi:type="dcterms:W3CDTF">2026-06-25T04:44:18Z</dcterms:modified>
</cp:coreProperties>
</file>